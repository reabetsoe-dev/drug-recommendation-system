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condition_distribution.png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training_rating_boxplot.png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rating_distribution.png"/><Relationship Id="rId3" Type="http://schemas.openxmlformats.org/officeDocument/2006/relationships/image" Target="../media/useful_count_distribution.png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date_trends.png"/><Relationship Id="rId3" Type="http://schemas.openxmlformats.org/officeDocument/2006/relationships/image" Target="../media/top_drugs_by_usefulness.png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feature_tuning_comparison.png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model_comparison.png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<Relationship Id="rId2" Type="http://schemas.openxmlformats.org/officeDocument/2006/relationships/image" Target="../media/confusion_matrix_tuned_logistic_regression.png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AI Drug Review Prediction System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Business objective: classify patient condition from drug reviews.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Target classes: Depression, High Blood Pressure, Type 2 Diabetes.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Recommendations use drug ratings, review counts, and useful counts.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Dataset and Assignment Features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drugName groups reviews by medication.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condition is the target label.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review text provides the predictive language signal.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rating and usefulCount support effectiveness ranking.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date supports trend analysis over time.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897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Data Cleaning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Removed rows missing condition, review, or rating.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Removed duplicates.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Validated rating range from 1 to 10.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Converted review dates to datetime.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Saved data quality and outlier counts to CSV.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897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Descriptive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Created condition distribution.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Created rating distribution.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Created useful count distribution.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Created top drugs by average useful count.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669280" y="1051560"/>
            <a:ext cx="5806440" cy="2331720"/>
          </a:xfrm>
          <a:prstGeom prst="rect">
            <a:avLst/>
          </a:prstGeom>
        </p:spPr>
      </p:pic>
      <p:pic>
        <p:nvPicPr>
          <p:cNvPr id="12" name="Imag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5669280" y="3657600"/>
            <a:ext cx="58064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Date and Usefulness Insights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Monthly trend analysis shows review volume by condition.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Monthly rating trend shows satisfaction changes over time.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Useful count helps identify reviews/drugs with stronger evidence.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669280" y="1051560"/>
            <a:ext cx="5806440" cy="2331720"/>
          </a:xfrm>
          <a:prstGeom prst="rect">
            <a:avLst/>
          </a:prstGeom>
        </p:spPr>
      </p:pic>
      <p:pic>
        <p:nvPicPr>
          <p:cNvPr id="12" name="Imag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5669280" y="3657600"/>
            <a:ext cx="58064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Preprocessing and Feature Tuning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Text cleaning uses lowercase, punctuation removal, tokenization, and stopword removal.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TF-IDF converts reviews into numerical features.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Feature tuning compared unigram and unigram+bigram settings.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Best configuration: 5,000 unigram TF-IDF features.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897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Model Determination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Compared Logistic Regression and Multinomial Naive Bayes.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Both are strong baselines for sparse TF-IDF text classification.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Model choice was based on validation, cross-validation, and test accuracy.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897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Model Performance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Best tuned model: Logistic Regression.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Tuned test accuracy: 96.2%.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Class reports and confusion matrices are saved under artifacts.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The model is ready for out-of-sample presentation testing.</a:t>
            </a:r>
          </a:p>
        </p:txBody>
      </p:sp>
      <p:pic>
        <p:nvPicPr>
          <p:cNvPr id="11" name="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897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Prediction Dashboard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React dashboard accepts symptoms/review text.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Dashboard also accepts a known patient condition.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Backend forwards requests to the AI inference service.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Results include condition, confidence, sentiment, recommendations, and rating chart.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true">
                <a:solidFill>
                  <a:srgbClr val="1D4ED8"/>
                </a:solidFill>
                <a:latin typeface="Arial"/>
              </a:rPr>
              <a:t>System Architecture and Deliverables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4937760" cy="5303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Frontend: React and Vite on port 8501.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Backend API: FastAPI on port 8000.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AI service: FastAPI inference service on port 5000.</a:t>
            </a:r>
          </a:p>
          <a:p>
            <a:r>
              <a:rPr lang="en-US" sz="1800" b="false">
                <a:solidFill>
                  <a:srgbClr val="0F172A"/>
                </a:solidFill>
                <a:latin typeface="Arial"/>
              </a:rPr>
              <a:t>- Deliverables include README, model creation file, trained model, artifacts, and presentation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rugReview">
  <a:themeElements>
    <a:clrScheme name="AIDrugReview">
      <a:dk1>
        <a:srgbClr val="111827"/>
      </a:dk1>
      <a:lt1>
        <a:srgbClr val="FFFFFF"/>
      </a:lt1>
      <a:dk2>
        <a:srgbClr val="1E293B"/>
      </a:dk2>
      <a:lt2>
        <a:srgbClr val="F8FBFF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14B8A6"/>
      </a:accent5>
      <a:accent6>
        <a:srgbClr val="6366F1"/>
      </a:accent6>
      <a:hlink>
        <a:srgbClr val="2563EB"/>
      </a:hlink>
      <a:folHlink>
        <a:srgbClr val="6366F1"/>
      </a:folHlink>
    </a:clrScheme>
    <a:fontScheme name="AIDrugReview">
      <a:majorFont>
        <a:latin typeface="Arial"/>
      </a:majorFont>
      <a:minorFont>
        <a:latin typeface="Arial"/>
      </a:minorFont>
    </a:fontScheme>
    <a:fmtScheme name="AIDrugReview">
      <a:fillStyleLst/>
      <a:lnStyleLst/>
      <a:effectStyleLst/>
      <a:bgFillStyleLst/>
    </a:fmtScheme>
  </a:themeElements>
</a:theme>
</file>